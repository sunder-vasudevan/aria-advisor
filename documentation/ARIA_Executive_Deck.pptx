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A-RiA  ·  ARIA Personal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8C8E8"/>
                </a:solidFill>
                <a:latin typeface="Calibri"/>
              </a:rPr>
              <a:t>"Real Intelligence for Every Client"  ·  "Your Money Intelligence"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4572000" cy="36576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Two fintech products. One shared platform. Real intelligence for every investor.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  <a:latin typeface="Calibri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0233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EE"/>
                </a:solidFill>
                <a:latin typeface="Calibri"/>
              </a:rPr>
              <a:t>A-RiA (Advisor Workbench) · ARIA Personal (Consumer App)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708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  <a:latin typeface="Calibri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3708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EE"/>
                </a:solidFill>
                <a:latin typeface="Calibri"/>
              </a:rPr>
              <a:t>Sunny Hayes (sunder-vasudevan)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  <a:latin typeface="Calibri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71830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EE"/>
                </a:solidFill>
                <a:latin typeface="Calibri"/>
              </a:rPr>
              <a:t>March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657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  <a:latin typeface="Calibr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6577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EE"/>
                </a:solidFill>
                <a:latin typeface="Calibri"/>
              </a:rPr>
              <a:t>FastAPI · Supabase · React + Vite · Tailwind · Render · Vercel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9AA"/>
                </a:solidFill>
                <a:latin typeface="Calibri"/>
              </a:rPr>
              <a:t>Made with ❤️ in Hyderabad  |  © 2026 Sunny Hayes.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01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Wealth Advisory Is Broken for Most Indians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4389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B99"/>
                </a:solidFill>
                <a:latin typeface="Calibri"/>
              </a:rPr>
              <a:t>THE ADVISOR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No actionable intelligence — data in spreadsheets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Reactive, not proactive — calls clients after market moves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Goal tracking is manual — no real-time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Meeting prep = 15–30 mins of manual work per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Urgency is invisible — high-risk clients blend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94960" cy="43891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DB"/>
                </a:solidFill>
                <a:latin typeface="Calibri"/>
              </a:rPr>
              <a:t>THE SELF-DIRECTED INVESTOR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Data without intelligence — no probability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No personalised guidance — generic content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Life event blind spots — decisions in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The advisor gap — cannot afford or do not want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No answer to: "Will I actually reach my goal?"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52160"/>
            <a:ext cx="11247120" cy="475488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9618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2B5C"/>
                </a:solidFill>
                <a:latin typeface="Calibri"/>
              </a:rPr>
              <a:t>ARIA addresses both groups with purpose-built products on a shared intelligent platform.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02  THE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Two Products. One Shared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4572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A-RiA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A87"/>
                </a:solidFill>
                <a:latin typeface="Calibri"/>
              </a:rPr>
              <a:t>Advisor Relationship Intelligence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C8E8"/>
                </a:solidFill>
                <a:latin typeface="Calibri"/>
              </a:rPr>
              <a:t>"Real Intelligence for Every Client"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78608"/>
            <a:ext cx="4572000" cy="2743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Client book with urgency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54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Client 360 — full profile + portfolio +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64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Goal probability (Monte Carlo, inflation-adj.)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75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What-if scenario — SIP sliders, reverse calc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86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AI copilot (Claude API) — 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Morning briefing — daily urgent client digest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Audit logs for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5394960" cy="457200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ARIA Personal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Consumer App for Self-Directed Investors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12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F0FF"/>
                </a:solidFill>
                <a:latin typeface="Calibri"/>
              </a:rPr>
              <a:t>"Your Money Intelligence"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578608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Register / Login with JWT auth (consumer-grade)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5409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Dashboard — portfolio, goals, life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6499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Goals with Monte Carlo probability pills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758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What-if v2 — SIP + inflation + return sliders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867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Life events — home, education, retirement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Ask ARIA — Claude API copilot, user-scoped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Mobile-first layout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03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One Backend. Two Frontends. Shared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41148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a-ria.vercel.app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A87"/>
                </a:solidFill>
                <a:latin typeface="Calibri"/>
              </a:rPr>
              <a:t>A-RiA Advisor Frontend
React 18 + Vite + Tailwind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25880"/>
            <a:ext cx="4114800" cy="91440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17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aria-personal.vercel.app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91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ARIA Personal Frontend
React 18 + Vite + Tailwind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97480"/>
            <a:ext cx="9509760" cy="164592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788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aria-advisor.onrender.com  —  FastAPI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090672"/>
            <a:ext cx="4389120" cy="82296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1546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/clients/* routes  (Advisor 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1071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A87"/>
                </a:solidFill>
                <a:latin typeface="Calibri"/>
              </a:rPr>
              <a:t>urgency scoring · goal probability
client 360 · copilot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90672"/>
            <a:ext cx="4389120" cy="822960"/>
          </a:xfrm>
          <a:prstGeom prst="rect">
            <a:avLst/>
          </a:prstGeom>
          <a:solidFill>
            <a:srgbClr val="12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/personal/* routes  (Consumer API + JWT)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auth · goals · life events
copilot · portfolio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959352"/>
            <a:ext cx="9144000" cy="292608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995928"/>
            <a:ext cx="8961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A87"/>
                </a:solidFill>
                <a:latin typeface="Calibri"/>
              </a:rPr>
              <a:t>Shared:  simulation.py (Monte Carlo)  ·  Claude API (Copilot)  ·  JWT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3708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754880"/>
            <a:ext cx="6675120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8280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Supabase PostgreSQL  (pooler :6543)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08406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  <a:latin typeface="Calibri"/>
              </a:rPr>
              <a:t>clients · portfolios · holdings · goals · life_events · PersonalUser · PersonalCopilotLog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04  A-RIA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A-RiA: Know Before They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64592" cy="1325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Calibri"/>
              </a:rPr>
              <a:t>Client Book + Urgency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Clients ranked by algorithmic urgency — portfolio drift, goal probability, missed SIP, life events, interaction recency. The RM sees immediately who needs attention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1325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64592" cy="132588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17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99"/>
                </a:solidFill>
                <a:latin typeface="Calibri"/>
              </a:rPr>
              <a:t>Client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2821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Full-page view: profile, portfolio, goals with probability pills, life events, urgency flags — everything needed for a meeting in one screen.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64592" cy="132588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260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Goal Probability — 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3697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1,000-simulation engine. Target inflated for real purchasing power. Probability pills: green ≥70%, amber 40–70%, rose &lt;40%.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394960" cy="1325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164592" cy="13258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260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What-If Scenario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3697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Mode 1: "Will I achieve it?" — SIP sliders + inflation rate + real vs nominal corpus. Mode 2: "What SIP do I need?" — binary-search to 80% probability.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164592" cy="132588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4348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99"/>
                </a:solidFill>
                <a:latin typeface="Calibri"/>
              </a:rPr>
              <a:t>AI Copilot (Claude API)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4573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Natural language interface. Context-aware: reads client data, drafts meeting notes, surfaces anomalies, answers questions in plain language.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43400"/>
            <a:ext cx="5394960" cy="1325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164592" cy="1325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348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Calibri"/>
              </a:rPr>
              <a:t>Morning Briefing + Audit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74573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Daily digest of urgent clients and pending actions. Full compliance trail on all advisor 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05  ARIA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ARIA Personal: Your Money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64592" cy="132588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Email + password register/login. python-jose + passlib, 7-day tokens, localStorage persistence. Production-grade consumer auth from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1325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64592" cy="13258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17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Goals + Monte Carlo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2821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Set goal name, target ₹, date, monthly SIP. On save: Monte Carlo runs, probability pill appears. Real vs nominal corpus displayed. What-if v2 sliders for instant scenario replay.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64592" cy="132588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260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99"/>
                </a:solidFill>
                <a:latin typeface="Calibri"/>
              </a:rPr>
              <a:t>What-If v2 Sliders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3697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SIP, inflation rate, and expected return sliders with debounced auto-run. See in real time: +₹5,000/month SIP raises probability from 45% to 72%.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394960" cy="1325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164592" cy="1325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260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Calibri"/>
              </a:rPr>
              <a:t>Life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3697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Log planned milestones: home purchase, education, marriage, retirement, custom events. Linked to goals for full context in AI copilot.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164592" cy="132588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4348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Ask ARIA — AI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4573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Claude API, user-scoped context. "Your retirement goal has 52% probability. To reach 80%, increase SIP by ₹8,400/month or extend timeline by 3 years."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43400"/>
            <a:ext cx="5394960" cy="1325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164592" cy="13258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348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Mobile-First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74573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375px viewport first. Thumb-friendly navigation, cards, and forms. Safari-compatible date inputs. India's investors are mobile-first.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06  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Monte Carlo Goal Probability — The Analytical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1.  Inflation-adjust target: real_target = amount × (1 + rate)^years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2.  For each of 1,000 paths, step month-by-month: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40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  r ∼ N(annual_rate/12,  0.05/√12)  [Gaussian return]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806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  value = value × (1 + r) + monthly_SIP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821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3.  Count successes: final_value ≥ real_target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4.  Return probability_pct + median corpus (nominal &amp; real)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FIND_REQUIRED_SIP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Binary-search over SIP range. 30 iterations → precision within ₹1. Rounded to nearest ₹100. Powers: "What SIP do I need for 80% probability?"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303520" cy="285775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069080"/>
            <a:ext cx="5029200" cy="280540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5349240"/>
            <a:ext cx="5669280" cy="594360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458968"/>
            <a:ext cx="5394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2B5C"/>
                </a:solidFill>
                <a:latin typeface="Calibri"/>
              </a:rPr>
              <a:t>Why inflation-adjustment? A corpus of ₹50 lakh in 2045 ≠ ₹50 lakh today. ARIA always shows a real-purchasing-power probability.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07 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One Design Language. Two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691640" cy="64008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9339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#1D6FDB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  <a:latin typeface="Calibri"/>
              </a:rPr>
              <a:t>Brand 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05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Primary actions, links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325880"/>
            <a:ext cx="16916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99339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#002B5C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128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  <a:latin typeface="Calibri"/>
              </a:rPr>
              <a:t>Dark Navy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4505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Login panels, headers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169164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9339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#007A87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128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  <a:latin typeface="Calibri"/>
              </a:rPr>
              <a:t>Teal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505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On-track pills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1691640" cy="640080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9339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#E88C00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128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  <a:latin typeface="Calibri"/>
              </a:rPr>
              <a:t>Amber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505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Needs-attention pills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169164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9339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#E53E3E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2128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  <a:latin typeface="Calibri"/>
              </a:rPr>
              <a:t>Rose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4505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At-risk pills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325880"/>
            <a:ext cx="1691640" cy="640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99339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#F2F4F7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2128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  <a:latin typeface="Calibri"/>
              </a:rPr>
              <a:t>Slate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4505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Card backgrounds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11274552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260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KEY DESIGN DECISIONS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46120"/>
            <a:ext cx="539496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3375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Probability Pills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6301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Three-state teal/amber/rose system is the primary data visualisation. Consistent semantics: green = on track, amber = review needed, red = intervene.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246120"/>
            <a:ext cx="5394960" cy="105156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3375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Login Layout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6301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Split-screen: left dark navy panel (tagline + stats), right slate-50 panel (form). Premium first impression, fast mobile load.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80560"/>
            <a:ext cx="539496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5720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Logo Components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86460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ARiALogo.jsx (advisor) and ARIALogo.jsx (personal) — dotless-i with round blue dot. Consistent wordmark across both products.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480560"/>
            <a:ext cx="5394960" cy="105156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Mobile-First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6460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375px viewport first. All navigation, cards, and interactive elements are thumb-friendly. India's investors are on mobile.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08  ENGINEERING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One Product Owner + Claude Built Two Fintech Apps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A-RiA and ARIA Personal were designed, architected, coded, debugged, and deployed in a single build window by one person with Claude as a persistent full-session AI pair-programmer.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KEY TECHNICAL CHALLENGES SOLVED IN THE SAME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474720" cy="45720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240280"/>
            <a:ext cx="3474720" cy="45720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40280"/>
            <a:ext cx="4297680" cy="45720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2860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Lesson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474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432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NameError: models.Goal / models.LifeEvent in clients.py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697480"/>
            <a:ext cx="3474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27432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Corrected model imports in clients.py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697480"/>
            <a:ext cx="429768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7432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FastAPI lazy eval — import errors don't surface until first 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200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Safari &lt;input type="date"&gt; not firing onChange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315468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3200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Replaced with month + year &lt;select&gt; elements, state lifted to parent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154680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32004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Test on Safari. India's mobile users = iOS = Safari.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3474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657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FastAPI 204 delete routes returning 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611880"/>
            <a:ext cx="3474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3657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Return explicit Response(status_code=204)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611880"/>
            <a:ext cx="429768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36576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Always be explicit on status-only responses.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6908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1148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NOT NULL constraint — personal_user_id on shared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406908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5072" y="41148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Nullable FK + explicit query filters in both route namespaces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069080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41148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Nullable FKs with explicit filters = clean dual-product schema.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09160"/>
            <a:ext cx="11247120" cy="658368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8188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2B5C"/>
                </a:solidFill>
                <a:latin typeface="Calibri"/>
              </a:rPr>
              <a:t>Two codebases. One context. When the Safari bug was found in the advisor app, it was fixed in the personal app in the same turn — no ticket, no second PR, no risk of inconsistency.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09 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Build Velocity: One PO + Claude vs. Traditional 3-Person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D6FD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Production apps
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D6FD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Cloud services
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D6FDB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Shared simulation
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D6FDB"/>
                </a:solidFill>
                <a:latin typeface="Calibri"/>
              </a:rPr>
              <a:t>35–50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Features across
both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D6FDB"/>
                </a:solidFill>
                <a:latin typeface="Calibri"/>
              </a:rPr>
              <a:t>20–40x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Est. compression
ratio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11274552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5029200" cy="329184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8803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Workstream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834640"/>
            <a:ext cx="3108960" cy="329184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28803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Traditional Team (est.)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834640"/>
            <a:ext cx="3108960" cy="329184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28803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 PO + Claude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63824"/>
            <a:ext cx="502920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2095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FastAPI backend + Supabase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163824"/>
            <a:ext cx="310896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32095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1–2 weeks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163824"/>
            <a:ext cx="310896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32095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Single session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93008"/>
            <a:ext cx="5029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5387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JWT auth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493008"/>
            <a:ext cx="3108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35387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3–5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3493008"/>
            <a:ext cx="3108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35387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Same session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22192"/>
            <a:ext cx="502920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8679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Advisor frontend (full feature set)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822192"/>
            <a:ext cx="310896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9552" y="3867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2–3 weeks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822192"/>
            <a:ext cx="310896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3867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Same session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51376"/>
            <a:ext cx="5029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1970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Personal frontend (full feature set)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151376"/>
            <a:ext cx="3108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41970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2–3 weeks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151376"/>
            <a:ext cx="3108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8512" y="41970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Same session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80560"/>
            <a:ext cx="502920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526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Monte Carlo simulation engine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480560"/>
            <a:ext cx="310896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9552" y="45262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3–5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4480560"/>
            <a:ext cx="3108960" cy="3291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68512" y="45262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Same session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09744"/>
            <a:ext cx="5029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48554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TOTAL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809744"/>
            <a:ext cx="3108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9552" y="48554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~8–14 weeks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4809744"/>
            <a:ext cx="31089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8512" y="48554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 build window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834640"/>
            <a:ext cx="3474720" cy="200580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10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4343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B99"/>
                </a:solidFill>
                <a:latin typeface="Calibri"/>
              </a:rPr>
              <a:t>A-RiA ADVISOR — PHASE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01368"/>
            <a:ext cx="5120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FEAT-503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What-If Scenario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92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E88C00"/>
                </a:solidFill>
                <a:latin typeface="Calibri"/>
              </a:rPr>
              <a:t>In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13432"/>
            <a:ext cx="51206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FEAT-301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5117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Book-level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048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25496"/>
            <a:ext cx="5120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712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FEAT-302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Recommendation cards + approve/reject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9169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337560"/>
            <a:ext cx="51206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832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FEAT-201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Live NAV fetch (MFAPI.in)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290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849624"/>
            <a:ext cx="5120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953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FEAT-202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87368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Rebalancing proposal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941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361688"/>
            <a:ext cx="51206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074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99432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Edit client data (read-only now)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4531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325880"/>
            <a:ext cx="5394960" cy="22402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DB"/>
                </a:solidFill>
                <a:latin typeface="Calibri"/>
              </a:rPr>
              <a:t>ARIA PERSONAL — PHASE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801368"/>
            <a:ext cx="5120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470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FEAT-P001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039112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Portfolio add/edit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1892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2313432"/>
            <a:ext cx="51206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359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6FDB"/>
                </a:solidFill>
                <a:latin typeface="Calibri"/>
              </a:rPr>
              <a:t>FEAT-P002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55117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Onboarding risk questionnaire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24048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888888"/>
                </a:solidFill>
                <a:latin typeface="Calibri"/>
              </a:rPr>
              <a:t>Not started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394960" cy="2011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767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  <a:latin typeface="Calibri"/>
              </a:rPr>
              <a:t>PLATFORM — FUTURE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1480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Multi-currency (USD, AED — NRI segment)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4622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WhatsApp notification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80974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Open banking data ingestion (AA API)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15721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  <a:latin typeface="Calibri"/>
              </a:rPr>
              <a:t>▸  React Native mobile 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A-RiA · ARIA Personal  |  March 2026  |  Made with ❤️ in Hyderabad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  <a:latin typeface="Calibri"/>
              </a:rPr>
              <a:t>11  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Build With Us  ·  Invest  · 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00" cy="36576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A-RiA and ARIA Personal are live. The Monte Carlo engine is running. The copilot is answering questions. What's next depends on who comes to the 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120640" cy="11887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28016" cy="1188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6243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For Advisors &amp; Banks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971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Pilot A-RiA with your RM team. We'll show you "know before they call" in your own client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514600"/>
            <a:ext cx="5120640" cy="11887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2514600"/>
            <a:ext cx="128016" cy="1188720"/>
          </a:xfrm>
          <a:prstGeom prst="rect">
            <a:avLst/>
          </a:prstGeom>
          <a:solidFill>
            <a:srgbClr val="1D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6243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DB"/>
                </a:solidFill>
                <a:latin typeface="Calibri"/>
              </a:rPr>
              <a:t>For 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971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Try ARIA Personal. Set a goal. See your probability. Ask the copilot what it would take to improve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5120640" cy="11887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128016" cy="118872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9959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99"/>
                </a:solidFill>
                <a:latin typeface="Calibri"/>
              </a:rPr>
              <a:t>For Founders &amp;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343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This is what one PO + Claude can build. Talk to us about the model, the stack, or the approach.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86200"/>
            <a:ext cx="5120640" cy="11887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86200"/>
            <a:ext cx="128016" cy="1188720"/>
          </a:xfrm>
          <a:prstGeom prst="rect">
            <a:avLst/>
          </a:prstGeom>
          <a:solidFill>
            <a:srgbClr val="5B8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6" y="39959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E0"/>
                </a:solidFill>
                <a:latin typeface="Calibri"/>
              </a:rPr>
              <a:t>For Investors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4343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Two products live. A simulation engine that's correct. A design system that's consistent. The foundation is built.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132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87"/>
                </a:solidFill>
                <a:latin typeface="Calibri"/>
              </a:rPr>
              <a:t>GitHub: github.com/sunder-vasudevan/aria-advisor  ·  github.com/sunder-vasudevan/aria-personal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  <a:latin typeface="Calibri"/>
              </a:rPr>
              <a:t>Live: https://a-ria.vercel.app  ·  Backend: https://aria-advisor.onrender.com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0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9AA"/>
                </a:solidFill>
                <a:latin typeface="Calibri"/>
              </a:rPr>
              <a:t>Made with ❤️ in Hyderabad  |  © 2026 Sunny Hayes (sunder-vasudevan).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